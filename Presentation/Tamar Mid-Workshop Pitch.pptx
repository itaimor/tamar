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5" r:id="rId3"/>
    <p:sldId id="271" r:id="rId4"/>
    <p:sldId id="268" r:id="rId5"/>
    <p:sldId id="269" r:id="rId6"/>
    <p:sldId id="26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C072AE-B994-4FFE-9D7C-5B458FAC75E7}" type="doc">
      <dgm:prSet loTypeId="urn:microsoft.com/office/officeart/2018/2/layout/IconLabelList" loCatId="icon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58494C68-DB32-4D2A-A049-E5F1A1F3A0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Individual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Triggers</a:t>
          </a:r>
        </a:p>
        <a:p>
          <a:pPr>
            <a:lnSpc>
              <a:spcPct val="100000"/>
            </a:lnSpc>
          </a:pP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1800" kern="1200" noProof="0" dirty="0">
              <a:solidFill>
                <a:schemeClr val="bg1"/>
              </a:solidFill>
            </a:rPr>
            <a:t>Dietary triggers (specifically FODMAPs) are highly personalized. What is safe for one patient might trigger a painful flare-up in another.</a:t>
          </a:r>
        </a:p>
      </dgm:t>
    </dgm:pt>
    <dgm:pt modelId="{4CD51F7F-EA83-46D7-AA72-71EEAC3776ED}" type="parTrans" cxnId="{6EE1492F-2ABF-4D7A-8AF4-28903D030B76}">
      <dgm:prSet/>
      <dgm:spPr/>
      <dgm:t>
        <a:bodyPr/>
        <a:lstStyle/>
        <a:p>
          <a:endParaRPr lang="en-US" sz="3200">
            <a:solidFill>
              <a:schemeClr val="bg1"/>
            </a:solidFill>
          </a:endParaRPr>
        </a:p>
      </dgm:t>
    </dgm:pt>
    <dgm:pt modelId="{A7085AF8-284B-42A7-8148-72C59C3C3BC7}" type="sibTrans" cxnId="{6EE1492F-2ABF-4D7A-8AF4-28903D030B76}">
      <dgm:prSet/>
      <dgm:spPr/>
      <dgm:t>
        <a:bodyPr/>
        <a:lstStyle/>
        <a:p>
          <a:pPr>
            <a:lnSpc>
              <a:spcPct val="100000"/>
            </a:lnSpc>
          </a:pPr>
          <a:endParaRPr lang="en-US" sz="3200">
            <a:solidFill>
              <a:schemeClr val="bg1"/>
            </a:solidFill>
          </a:endParaRPr>
        </a:p>
      </dgm:t>
    </dgm:pt>
    <dgm:pt modelId="{ADCCD4D1-10EF-4747-9B8F-DECD8F2078D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Platform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Gap</a:t>
          </a:r>
        </a:p>
        <a:p>
          <a:pPr>
            <a:lnSpc>
              <a:spcPct val="100000"/>
            </a:lnSpc>
          </a:pP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1800" kern="1200" noProof="0" dirty="0">
              <a:solidFill>
                <a:schemeClr val="bg1"/>
              </a:solidFill>
            </a:rPr>
            <a:t>Conventional recipe search tools offer basic allergen filters, but completely lack health-first, adaptive, and personalized exclusions.</a:t>
          </a:r>
        </a:p>
      </dgm:t>
    </dgm:pt>
    <dgm:pt modelId="{AB84C194-14D5-4AA4-9391-6F32201E708A}" type="parTrans" cxnId="{DDADF793-1176-4ACF-9E78-5CBF4D26C0D1}">
      <dgm:prSet/>
      <dgm:spPr/>
      <dgm:t>
        <a:bodyPr/>
        <a:lstStyle/>
        <a:p>
          <a:endParaRPr lang="en-US" sz="3200">
            <a:solidFill>
              <a:schemeClr val="bg1"/>
            </a:solidFill>
          </a:endParaRPr>
        </a:p>
      </dgm:t>
    </dgm:pt>
    <dgm:pt modelId="{19392B66-CB8F-4F97-B3D3-766AC8D3D7C1}" type="sibTrans" cxnId="{DDADF793-1176-4ACF-9E78-5CBF4D26C0D1}">
      <dgm:prSet/>
      <dgm:spPr/>
      <dgm:t>
        <a:bodyPr/>
        <a:lstStyle/>
        <a:p>
          <a:pPr>
            <a:lnSpc>
              <a:spcPct val="100000"/>
            </a:lnSpc>
          </a:pPr>
          <a:endParaRPr lang="en-US" sz="3200">
            <a:solidFill>
              <a:schemeClr val="bg1"/>
            </a:solidFill>
          </a:endParaRPr>
        </a:p>
      </dgm:t>
    </dgm:pt>
    <dgm:pt modelId="{4D4AD3C5-111E-4F12-9652-1B704548DBE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Market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Size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</a:p>
        <a:p>
          <a:pPr>
            <a:lnSpc>
              <a:spcPct val="100000"/>
            </a:lnSpc>
          </a:pPr>
          <a:r>
            <a:rPr lang="en-US" sz="1800" kern="1200" noProof="0" dirty="0">
              <a:solidFill>
                <a:schemeClr val="bg1"/>
              </a:solidFill>
            </a:rPr>
            <a:t>Irritable Bowel Syndrome (IBS) affects over 10-15% of the global population, severely impacting quality of life through food anxiety.</a:t>
          </a:r>
        </a:p>
      </dgm:t>
    </dgm:pt>
    <dgm:pt modelId="{2535167B-BDD4-4C22-8215-8730E5BBBBA6}" type="sibTrans" cxnId="{9C685A7C-C3FD-4BE1-BF82-077BE97FDE30}">
      <dgm:prSet/>
      <dgm:spPr/>
      <dgm:t>
        <a:bodyPr/>
        <a:lstStyle/>
        <a:p>
          <a:endParaRPr lang="en-US" sz="3200">
            <a:solidFill>
              <a:schemeClr val="bg1"/>
            </a:solidFill>
          </a:endParaRPr>
        </a:p>
      </dgm:t>
    </dgm:pt>
    <dgm:pt modelId="{22773B74-92F9-4AE7-BA0E-0B33437CB2AC}" type="parTrans" cxnId="{9C685A7C-C3FD-4BE1-BF82-077BE97FDE30}">
      <dgm:prSet/>
      <dgm:spPr/>
      <dgm:t>
        <a:bodyPr/>
        <a:lstStyle/>
        <a:p>
          <a:endParaRPr lang="en-US" sz="3200">
            <a:solidFill>
              <a:schemeClr val="bg1"/>
            </a:solidFill>
          </a:endParaRPr>
        </a:p>
      </dgm:t>
    </dgm:pt>
    <dgm:pt modelId="{954A6DB1-2019-485B-A4DD-C2B463DBC576}" type="pres">
      <dgm:prSet presAssocID="{8BC072AE-B994-4FFE-9D7C-5B458FAC75E7}" presName="root" presStyleCnt="0">
        <dgm:presLayoutVars>
          <dgm:dir/>
          <dgm:resizeHandles val="exact"/>
        </dgm:presLayoutVars>
      </dgm:prSet>
      <dgm:spPr/>
    </dgm:pt>
    <dgm:pt modelId="{93F1F934-6C65-4975-87E3-9D414768C08A}" type="pres">
      <dgm:prSet presAssocID="{4D4AD3C5-111E-4F12-9652-1B704548DBE9}" presName="compNode" presStyleCnt="0"/>
      <dgm:spPr/>
    </dgm:pt>
    <dgm:pt modelId="{4E3C3E8A-EDF0-402E-998D-283342B797A9}" type="pres">
      <dgm:prSet presAssocID="{4D4AD3C5-111E-4F12-9652-1B704548DBE9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910FE00A-2BA7-4D2E-AECF-FAD27EDCB87F}" type="pres">
      <dgm:prSet presAssocID="{4D4AD3C5-111E-4F12-9652-1B704548DBE9}" presName="spaceRect" presStyleCnt="0"/>
      <dgm:spPr/>
    </dgm:pt>
    <dgm:pt modelId="{F73ADA35-E9D4-4161-84E9-A87D66C9944E}" type="pres">
      <dgm:prSet presAssocID="{4D4AD3C5-111E-4F12-9652-1B704548DBE9}" presName="textRect" presStyleLbl="revTx" presStyleIdx="0" presStyleCnt="3">
        <dgm:presLayoutVars>
          <dgm:chMax val="1"/>
          <dgm:chPref val="1"/>
        </dgm:presLayoutVars>
      </dgm:prSet>
      <dgm:spPr/>
    </dgm:pt>
    <dgm:pt modelId="{23BBEAC2-86D9-42AB-A0BC-08675FFC7B18}" type="pres">
      <dgm:prSet presAssocID="{2535167B-BDD4-4C22-8215-8730E5BBBBA6}" presName="sibTrans" presStyleCnt="0"/>
      <dgm:spPr/>
    </dgm:pt>
    <dgm:pt modelId="{78525227-CFB7-4341-A471-DA8A7F8D1A3E}" type="pres">
      <dgm:prSet presAssocID="{58494C68-DB32-4D2A-A049-E5F1A1F3A087}" presName="compNode" presStyleCnt="0"/>
      <dgm:spPr/>
    </dgm:pt>
    <dgm:pt modelId="{EC4DB80A-AA73-4C70-8348-13B3FFDAFF5D}" type="pres">
      <dgm:prSet presAssocID="{58494C68-DB32-4D2A-A049-E5F1A1F3A087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opathy with solid fill"/>
        </a:ext>
      </dgm:extLst>
    </dgm:pt>
    <dgm:pt modelId="{CE30DD82-68E9-47E0-AEE3-BCDAEAB97AE5}" type="pres">
      <dgm:prSet presAssocID="{58494C68-DB32-4D2A-A049-E5F1A1F3A087}" presName="spaceRect" presStyleCnt="0"/>
      <dgm:spPr/>
    </dgm:pt>
    <dgm:pt modelId="{9DFE1610-0D4B-40CB-99AF-50619C7243BB}" type="pres">
      <dgm:prSet presAssocID="{58494C68-DB32-4D2A-A049-E5F1A1F3A087}" presName="textRect" presStyleLbl="revTx" presStyleIdx="1" presStyleCnt="3">
        <dgm:presLayoutVars>
          <dgm:chMax val="1"/>
          <dgm:chPref val="1"/>
        </dgm:presLayoutVars>
      </dgm:prSet>
      <dgm:spPr/>
    </dgm:pt>
    <dgm:pt modelId="{DB922B2A-3798-4D43-8AB8-2B0BCB089C4C}" type="pres">
      <dgm:prSet presAssocID="{A7085AF8-284B-42A7-8148-72C59C3C3BC7}" presName="sibTrans" presStyleCnt="0"/>
      <dgm:spPr/>
    </dgm:pt>
    <dgm:pt modelId="{5E01F69D-C9B9-473E-A243-0542389D0A2C}" type="pres">
      <dgm:prSet presAssocID="{ADCCD4D1-10EF-4747-9B8F-DECD8F2078D1}" presName="compNode" presStyleCnt="0"/>
      <dgm:spPr/>
    </dgm:pt>
    <dgm:pt modelId="{37836378-7917-4345-972C-F7ACCA14EADC}" type="pres">
      <dgm:prSet presAssocID="{ADCCD4D1-10EF-4747-9B8F-DECD8F2078D1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k In Road with solid fill"/>
        </a:ext>
      </dgm:extLst>
    </dgm:pt>
    <dgm:pt modelId="{2B054CE7-563D-40E7-B24E-B712CBEE2560}" type="pres">
      <dgm:prSet presAssocID="{ADCCD4D1-10EF-4747-9B8F-DECD8F2078D1}" presName="spaceRect" presStyleCnt="0"/>
      <dgm:spPr/>
    </dgm:pt>
    <dgm:pt modelId="{E0F9D043-5262-480C-90AA-BB609D01C6E3}" type="pres">
      <dgm:prSet presAssocID="{ADCCD4D1-10EF-4747-9B8F-DECD8F2078D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EE1492F-2ABF-4D7A-8AF4-28903D030B76}" srcId="{8BC072AE-B994-4FFE-9D7C-5B458FAC75E7}" destId="{58494C68-DB32-4D2A-A049-E5F1A1F3A087}" srcOrd="1" destOrd="0" parTransId="{4CD51F7F-EA83-46D7-AA72-71EEAC3776ED}" sibTransId="{A7085AF8-284B-42A7-8148-72C59C3C3BC7}"/>
    <dgm:cxn modelId="{C97D8063-D9F7-4105-A454-234AB0053BE5}" type="presOf" srcId="{4D4AD3C5-111E-4F12-9652-1B704548DBE9}" destId="{F73ADA35-E9D4-4161-84E9-A87D66C9944E}" srcOrd="0" destOrd="0" presId="urn:microsoft.com/office/officeart/2018/2/layout/IconLabelList"/>
    <dgm:cxn modelId="{2B42E56F-3BB9-42A3-8D4C-6CABE83B87CF}" type="presOf" srcId="{8BC072AE-B994-4FFE-9D7C-5B458FAC75E7}" destId="{954A6DB1-2019-485B-A4DD-C2B463DBC576}" srcOrd="0" destOrd="0" presId="urn:microsoft.com/office/officeart/2018/2/layout/IconLabelList"/>
    <dgm:cxn modelId="{9C685A7C-C3FD-4BE1-BF82-077BE97FDE30}" srcId="{8BC072AE-B994-4FFE-9D7C-5B458FAC75E7}" destId="{4D4AD3C5-111E-4F12-9652-1B704548DBE9}" srcOrd="0" destOrd="0" parTransId="{22773B74-92F9-4AE7-BA0E-0B33437CB2AC}" sibTransId="{2535167B-BDD4-4C22-8215-8730E5BBBBA6}"/>
    <dgm:cxn modelId="{DDADF793-1176-4ACF-9E78-5CBF4D26C0D1}" srcId="{8BC072AE-B994-4FFE-9D7C-5B458FAC75E7}" destId="{ADCCD4D1-10EF-4747-9B8F-DECD8F2078D1}" srcOrd="2" destOrd="0" parTransId="{AB84C194-14D5-4AA4-9391-6F32201E708A}" sibTransId="{19392B66-CB8F-4F97-B3D3-766AC8D3D7C1}"/>
    <dgm:cxn modelId="{8AD07CAF-5A85-4778-8A6F-1B47C4069455}" type="presOf" srcId="{ADCCD4D1-10EF-4747-9B8F-DECD8F2078D1}" destId="{E0F9D043-5262-480C-90AA-BB609D01C6E3}" srcOrd="0" destOrd="0" presId="urn:microsoft.com/office/officeart/2018/2/layout/IconLabelList"/>
    <dgm:cxn modelId="{782F7CB2-4D50-45FD-8C19-8CDC9CBE2B37}" type="presOf" srcId="{58494C68-DB32-4D2A-A049-E5F1A1F3A087}" destId="{9DFE1610-0D4B-40CB-99AF-50619C7243BB}" srcOrd="0" destOrd="0" presId="urn:microsoft.com/office/officeart/2018/2/layout/IconLabelList"/>
    <dgm:cxn modelId="{3F5C4525-967E-48E6-AC6C-33126314AA24}" type="presParOf" srcId="{954A6DB1-2019-485B-A4DD-C2B463DBC576}" destId="{93F1F934-6C65-4975-87E3-9D414768C08A}" srcOrd="0" destOrd="0" presId="urn:microsoft.com/office/officeart/2018/2/layout/IconLabelList"/>
    <dgm:cxn modelId="{0B87F52D-7592-4D3D-9C65-1E021DB76290}" type="presParOf" srcId="{93F1F934-6C65-4975-87E3-9D414768C08A}" destId="{4E3C3E8A-EDF0-402E-998D-283342B797A9}" srcOrd="0" destOrd="0" presId="urn:microsoft.com/office/officeart/2018/2/layout/IconLabelList"/>
    <dgm:cxn modelId="{BC82F284-8FE8-4366-8DBA-0E8E0BB6B6CD}" type="presParOf" srcId="{93F1F934-6C65-4975-87E3-9D414768C08A}" destId="{910FE00A-2BA7-4D2E-AECF-FAD27EDCB87F}" srcOrd="1" destOrd="0" presId="urn:microsoft.com/office/officeart/2018/2/layout/IconLabelList"/>
    <dgm:cxn modelId="{E19245AA-C885-4F63-8A11-35CAB8F9346D}" type="presParOf" srcId="{93F1F934-6C65-4975-87E3-9D414768C08A}" destId="{F73ADA35-E9D4-4161-84E9-A87D66C9944E}" srcOrd="2" destOrd="0" presId="urn:microsoft.com/office/officeart/2018/2/layout/IconLabelList"/>
    <dgm:cxn modelId="{32B2C766-47FF-4E72-9496-17E0737AD351}" type="presParOf" srcId="{954A6DB1-2019-485B-A4DD-C2B463DBC576}" destId="{23BBEAC2-86D9-42AB-A0BC-08675FFC7B18}" srcOrd="1" destOrd="0" presId="urn:microsoft.com/office/officeart/2018/2/layout/IconLabelList"/>
    <dgm:cxn modelId="{07E00D0B-4717-49DB-9B5E-C0AA2528D1FC}" type="presParOf" srcId="{954A6DB1-2019-485B-A4DD-C2B463DBC576}" destId="{78525227-CFB7-4341-A471-DA8A7F8D1A3E}" srcOrd="2" destOrd="0" presId="urn:microsoft.com/office/officeart/2018/2/layout/IconLabelList"/>
    <dgm:cxn modelId="{28B87408-E7F2-4BEB-AFA2-9ADC55B9F57B}" type="presParOf" srcId="{78525227-CFB7-4341-A471-DA8A7F8D1A3E}" destId="{EC4DB80A-AA73-4C70-8348-13B3FFDAFF5D}" srcOrd="0" destOrd="0" presId="urn:microsoft.com/office/officeart/2018/2/layout/IconLabelList"/>
    <dgm:cxn modelId="{01E51024-61E2-4EE5-ACCF-E20E5A045AA6}" type="presParOf" srcId="{78525227-CFB7-4341-A471-DA8A7F8D1A3E}" destId="{CE30DD82-68E9-47E0-AEE3-BCDAEAB97AE5}" srcOrd="1" destOrd="0" presId="urn:microsoft.com/office/officeart/2018/2/layout/IconLabelList"/>
    <dgm:cxn modelId="{05C003D3-EBF7-4895-90C6-C3CD66FD863E}" type="presParOf" srcId="{78525227-CFB7-4341-A471-DA8A7F8D1A3E}" destId="{9DFE1610-0D4B-40CB-99AF-50619C7243BB}" srcOrd="2" destOrd="0" presId="urn:microsoft.com/office/officeart/2018/2/layout/IconLabelList"/>
    <dgm:cxn modelId="{E02B1AF3-4A88-41D0-9AF6-0C32A49405DB}" type="presParOf" srcId="{954A6DB1-2019-485B-A4DD-C2B463DBC576}" destId="{DB922B2A-3798-4D43-8AB8-2B0BCB089C4C}" srcOrd="3" destOrd="0" presId="urn:microsoft.com/office/officeart/2018/2/layout/IconLabelList"/>
    <dgm:cxn modelId="{88B961F3-62C0-46A8-B056-D9FDB025297B}" type="presParOf" srcId="{954A6DB1-2019-485B-A4DD-C2B463DBC576}" destId="{5E01F69D-C9B9-473E-A243-0542389D0A2C}" srcOrd="4" destOrd="0" presId="urn:microsoft.com/office/officeart/2018/2/layout/IconLabelList"/>
    <dgm:cxn modelId="{655BF232-F519-46BF-B92D-A03BA581D6C8}" type="presParOf" srcId="{5E01F69D-C9B9-473E-A243-0542389D0A2C}" destId="{37836378-7917-4345-972C-F7ACCA14EADC}" srcOrd="0" destOrd="0" presId="urn:microsoft.com/office/officeart/2018/2/layout/IconLabelList"/>
    <dgm:cxn modelId="{0CCA3AC5-8B47-4B80-A806-A4F1D69330AD}" type="presParOf" srcId="{5E01F69D-C9B9-473E-A243-0542389D0A2C}" destId="{2B054CE7-563D-40E7-B24E-B712CBEE2560}" srcOrd="1" destOrd="0" presId="urn:microsoft.com/office/officeart/2018/2/layout/IconLabelList"/>
    <dgm:cxn modelId="{BA78B48F-B3C9-4A90-81D7-4688740257D7}" type="presParOf" srcId="{5E01F69D-C9B9-473E-A243-0542389D0A2C}" destId="{E0F9D043-5262-480C-90AA-BB609D01C6E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3C3E8A-EDF0-402E-998D-283342B797A9}">
      <dsp:nvSpPr>
        <dsp:cNvPr id="0" name=""/>
        <dsp:cNvSpPr/>
      </dsp:nvSpPr>
      <dsp:spPr>
        <a:xfrm>
          <a:off x="1043178" y="712307"/>
          <a:ext cx="1475794" cy="147579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ADA35-E9D4-4161-84E9-A87D66C9944E}">
      <dsp:nvSpPr>
        <dsp:cNvPr id="0" name=""/>
        <dsp:cNvSpPr/>
      </dsp:nvSpPr>
      <dsp:spPr>
        <a:xfrm>
          <a:off x="141303" y="2775682"/>
          <a:ext cx="3279543" cy="1853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Market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Size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chemeClr val="bg1"/>
              </a:solidFill>
            </a:rPr>
            <a:t>Irritable Bowel Syndrome (IBS) affects over 10-15% of the global population, severely impacting quality of life through food anxiety.</a:t>
          </a:r>
        </a:p>
      </dsp:txBody>
      <dsp:txXfrm>
        <a:off x="141303" y="2775682"/>
        <a:ext cx="3279543" cy="1853220"/>
      </dsp:txXfrm>
    </dsp:sp>
    <dsp:sp modelId="{EC4DB80A-AA73-4C70-8348-13B3FFDAFF5D}">
      <dsp:nvSpPr>
        <dsp:cNvPr id="0" name=""/>
        <dsp:cNvSpPr/>
      </dsp:nvSpPr>
      <dsp:spPr>
        <a:xfrm>
          <a:off x="4896642" y="712307"/>
          <a:ext cx="1475794" cy="147579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E1610-0D4B-40CB-99AF-50619C7243BB}">
      <dsp:nvSpPr>
        <dsp:cNvPr id="0" name=""/>
        <dsp:cNvSpPr/>
      </dsp:nvSpPr>
      <dsp:spPr>
        <a:xfrm>
          <a:off x="3994767" y="2775682"/>
          <a:ext cx="3279543" cy="1853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Individual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Triggers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1800" kern="1200" noProof="0" dirty="0">
              <a:solidFill>
                <a:schemeClr val="bg1"/>
              </a:solidFill>
            </a:rPr>
            <a:t>Dietary triggers (specifically FODMAPs) are highly personalized. What is safe for one patient might trigger a painful flare-up in another.</a:t>
          </a:r>
        </a:p>
      </dsp:txBody>
      <dsp:txXfrm>
        <a:off x="3994767" y="2775682"/>
        <a:ext cx="3279543" cy="1853220"/>
      </dsp:txXfrm>
    </dsp:sp>
    <dsp:sp modelId="{37836378-7917-4345-972C-F7ACCA14EADC}">
      <dsp:nvSpPr>
        <dsp:cNvPr id="0" name=""/>
        <dsp:cNvSpPr/>
      </dsp:nvSpPr>
      <dsp:spPr>
        <a:xfrm>
          <a:off x="8750105" y="712307"/>
          <a:ext cx="1475794" cy="147579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9D043-5262-480C-90AA-BB609D01C6E3}">
      <dsp:nvSpPr>
        <dsp:cNvPr id="0" name=""/>
        <dsp:cNvSpPr/>
      </dsp:nvSpPr>
      <dsp:spPr>
        <a:xfrm>
          <a:off x="7848231" y="2775682"/>
          <a:ext cx="3279543" cy="1853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Platform</a:t>
          </a: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2000" b="1" kern="1200" noProof="0" dirty="0">
              <a:solidFill>
                <a:srgbClr val="A3E635"/>
              </a:solidFill>
              <a:latin typeface="Segoe UI"/>
              <a:ea typeface="+mn-ea"/>
              <a:cs typeface="+mn-cs"/>
            </a:rPr>
            <a:t>Gap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>
              <a:solidFill>
                <a:schemeClr val="bg1"/>
              </a:solidFill>
            </a:rPr>
            <a:t> </a:t>
          </a:r>
          <a:r>
            <a:rPr lang="en-US" sz="1800" kern="1200" noProof="0" dirty="0">
              <a:solidFill>
                <a:schemeClr val="bg1"/>
              </a:solidFill>
            </a:rPr>
            <a:t>Conventional recipe search tools offer basic allergen filters, but completely lack health-first, adaptive, and personalized exclusions.</a:t>
          </a:r>
        </a:p>
      </dsp:txBody>
      <dsp:txXfrm>
        <a:off x="7848231" y="2775682"/>
        <a:ext cx="3279543" cy="1853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A55928-1620-23C4-30E3-4D65EBF9B4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DD349A-981A-5EDD-9AB9-4CA254EDE2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50945-9541-4DC9-B8BF-C38919F023BB}" type="datetimeFigureOut">
              <a:rPr lang="LID4096" smtClean="0"/>
              <a:t>06/02/2026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3E762-3A0E-6667-4DC4-170F1B26D0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B7EF6-0324-FDAE-96F8-33557C072E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9972C-E785-4E33-A4CB-84DE717FB0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8318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E4B0E-9049-4E99-AD84-E5BC74F00884}" type="datetimeFigureOut">
              <a:rPr lang="LID4096" smtClean="0"/>
              <a:t>06/02/2026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14D81-57E6-4E78-AA7E-7F7011E3FCB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618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A3E635"/>
                </a:solidFill>
                <a:latin typeface="Segoe UI"/>
              </a:rPr>
              <a:t>•  Frontend (React + Vite): </a:t>
            </a:r>
            <a:r>
              <a:rPr lang="en-US" sz="1200" dirty="0">
                <a:solidFill>
                  <a:srgbClr val="F8FAFC"/>
                </a:solidFill>
                <a:latin typeface="Segoe UI"/>
              </a:rPr>
              <a:t>Delivers a fast user dashboard, chat assistant interface, symptom logs, and recipe discovery components utilizing Tailwind and </a:t>
            </a:r>
            <a:r>
              <a:rPr lang="en-US" sz="1200" dirty="0" err="1">
                <a:solidFill>
                  <a:srgbClr val="F8FAFC"/>
                </a:solidFill>
                <a:latin typeface="Segoe UI"/>
              </a:rPr>
              <a:t>shadcn</a:t>
            </a:r>
            <a:r>
              <a:rPr lang="en-US" sz="1200" dirty="0">
                <a:solidFill>
                  <a:srgbClr val="F8FAFC"/>
                </a:solidFill>
                <a:latin typeface="Segoe UI"/>
              </a:rPr>
              <a:t>/</a:t>
            </a:r>
            <a:r>
              <a:rPr lang="en-US" sz="1200" dirty="0" err="1">
                <a:solidFill>
                  <a:srgbClr val="F8FAFC"/>
                </a:solidFill>
                <a:latin typeface="Segoe UI"/>
              </a:rPr>
              <a:t>ui</a:t>
            </a:r>
            <a:r>
              <a:rPr lang="en-US" sz="1200" dirty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A3E635"/>
                </a:solidFill>
                <a:latin typeface="Segoe UI"/>
              </a:rPr>
              <a:t>•  Backend API Layer (</a:t>
            </a:r>
            <a:r>
              <a:rPr lang="en-US" sz="1400" b="1" dirty="0" err="1">
                <a:solidFill>
                  <a:srgbClr val="A3E635"/>
                </a:solidFill>
                <a:latin typeface="Segoe UI"/>
              </a:rPr>
              <a:t>Vercel</a:t>
            </a:r>
            <a:r>
              <a:rPr lang="en-US" sz="1400" b="1" dirty="0">
                <a:solidFill>
                  <a:srgbClr val="A3E635"/>
                </a:solidFill>
                <a:latin typeface="Segoe UI"/>
              </a:rPr>
              <a:t>): </a:t>
            </a:r>
            <a:r>
              <a:rPr lang="en-US" sz="1200" dirty="0">
                <a:solidFill>
                  <a:srgbClr val="F8FAFC"/>
                </a:solidFill>
                <a:latin typeface="Segoe UI"/>
              </a:rPr>
              <a:t>A serverless </a:t>
            </a:r>
            <a:r>
              <a:rPr lang="en-US" sz="1200" dirty="0" err="1">
                <a:solidFill>
                  <a:srgbClr val="F8FAFC"/>
                </a:solidFill>
                <a:latin typeface="Segoe UI"/>
              </a:rPr>
              <a:t>Vercel</a:t>
            </a:r>
            <a:r>
              <a:rPr lang="en-US" sz="1200" dirty="0">
                <a:solidFill>
                  <a:srgbClr val="F8FAFC"/>
                </a:solidFill>
                <a:latin typeface="Segoe UI"/>
              </a:rPr>
              <a:t> function framework orchestration layer, separating routing logic for auth, user settings, chats, and recommendations.</a:t>
            </a:r>
          </a:p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A3E635"/>
                </a:solidFill>
                <a:latin typeface="Segoe UI"/>
              </a:rPr>
              <a:t>•  Data Layer (</a:t>
            </a:r>
            <a:r>
              <a:rPr lang="en-US" sz="1400" b="1" dirty="0" err="1">
                <a:solidFill>
                  <a:srgbClr val="A3E635"/>
                </a:solidFill>
                <a:latin typeface="Segoe UI"/>
              </a:rPr>
              <a:t>Supabase</a:t>
            </a:r>
            <a:r>
              <a:rPr lang="en-US" sz="1400" b="1" dirty="0">
                <a:solidFill>
                  <a:srgbClr val="A3E635"/>
                </a:solidFill>
                <a:latin typeface="Segoe UI"/>
              </a:rPr>
              <a:t>): </a:t>
            </a:r>
            <a:r>
              <a:rPr lang="en-US" sz="1200" dirty="0">
                <a:solidFill>
                  <a:srgbClr val="F8FAFC"/>
                </a:solidFill>
                <a:latin typeface="Segoe UI"/>
              </a:rPr>
              <a:t>PostgreSQL database stores user preferences, chat logs, recipe tables, and interactions. Storage buckets serve static models and media.</a:t>
            </a:r>
          </a:p>
          <a:p>
            <a:pPr>
              <a:spcAft>
                <a:spcPts val="1400"/>
              </a:spcAft>
            </a:pPr>
            <a:r>
              <a:rPr lang="en-US" sz="1400" b="1" dirty="0">
                <a:solidFill>
                  <a:srgbClr val="A3E635"/>
                </a:solidFill>
                <a:latin typeface="Segoe UI"/>
              </a:rPr>
              <a:t>•  Offline ML Pipeline: </a:t>
            </a:r>
            <a:r>
              <a:rPr lang="en-US" sz="1200" dirty="0">
                <a:solidFill>
                  <a:srgbClr val="F8FAFC"/>
                </a:solidFill>
                <a:latin typeface="Segoe UI"/>
              </a:rPr>
              <a:t>Python-based training script that runs on schedule to sync new ratings, train CF models (SVD), registry version files, and push coefficients.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14D81-57E6-4E78-AA7E-7F7011E3FCB6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9598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tamarai.tech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6433A9-9684-AC07-33D4-F24E69CC97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678426" y="-270165"/>
            <a:ext cx="13563600" cy="739832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1900375"/>
            <a:ext cx="10362895" cy="3057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lang="en-US" sz="5400" b="1" noProof="0" dirty="0">
                <a:solidFill>
                  <a:srgbClr val="F8FAFC"/>
                </a:solidFill>
                <a:latin typeface="Segoe UI"/>
              </a:rPr>
              <a:t>Tamar</a:t>
            </a:r>
          </a:p>
          <a:p>
            <a:pPr algn="ctr">
              <a:spcAft>
                <a:spcPts val="1400"/>
              </a:spcAft>
            </a:pPr>
            <a:r>
              <a:rPr lang="en-US" sz="5400" b="1" noProof="0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n-US" sz="5400" b="1" noProof="0" dirty="0">
                <a:solidFill>
                  <a:srgbClr val="A3E635"/>
                </a:solidFill>
                <a:latin typeface="Segoe UI"/>
              </a:rPr>
              <a:t>IBS Recommender</a:t>
            </a:r>
            <a:r>
              <a:rPr lang="en-US" sz="5400" b="1" noProof="0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n-US" sz="5400" b="1" noProof="0" dirty="0">
                <a:solidFill>
                  <a:srgbClr val="A3E635"/>
                </a:solidFill>
                <a:latin typeface="Segoe UI"/>
              </a:rPr>
              <a:t>System</a:t>
            </a:r>
          </a:p>
          <a:p>
            <a:pPr algn="ctr">
              <a:spcAft>
                <a:spcPts val="4000"/>
              </a:spcAft>
            </a:pPr>
            <a:r>
              <a:rPr lang="en-US" sz="2000" noProof="0" dirty="0">
                <a:solidFill>
                  <a:srgbClr val="94A3B8"/>
                </a:solidFill>
                <a:latin typeface="Segoe UI"/>
              </a:rPr>
              <a:t>Personalized Recipe Recommendations &amp; Symptom Assistant for Digestive Health</a:t>
            </a:r>
          </a:p>
          <a:p>
            <a:pPr algn="ctr"/>
            <a:r>
              <a:rPr lang="en-US" sz="1400" i="1" noProof="0" dirty="0">
                <a:solidFill>
                  <a:srgbClr val="94A3B8"/>
                </a:solidFill>
                <a:latin typeface="Segoe UI"/>
              </a:rPr>
              <a:t>Mid-Workshop Pitch |  Tamar HealthTech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58C98-2456-BB19-5E3F-1D4455D7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FA89D-A941-BC54-C685-CFFF08ED1BA6}"/>
              </a:ext>
            </a:extLst>
          </p:cNvPr>
          <p:cNvSpPr txBox="1"/>
          <p:nvPr/>
        </p:nvSpPr>
        <p:spPr>
          <a:xfrm>
            <a:off x="5602256" y="380699"/>
            <a:ext cx="98748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IBS?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CBF62-8E3F-CCC4-89F2-4F714573B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  <p:pic>
        <p:nvPicPr>
          <p:cNvPr id="5" name="Picture 4" descr="An IBS symptoms infographic highlights key signs like pain, bloating, diarrhea, and constipation visually.">
            <a:extLst>
              <a:ext uri="{FF2B5EF4-FFF2-40B4-BE49-F238E27FC236}">
                <a16:creationId xmlns:a16="http://schemas.microsoft.com/office/drawing/2014/main" id="{73384EB9-C5CC-E1A5-52C5-9EA27B730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398" y="1331655"/>
            <a:ext cx="8331201" cy="46863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07693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D0C44-81F9-9A7C-A6D7-64B98537E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60A5E-A58F-87B7-A73D-374F736D3FB2}"/>
              </a:ext>
            </a:extLst>
          </p:cNvPr>
          <p:cNvSpPr txBox="1"/>
          <p:nvPr/>
        </p:nvSpPr>
        <p:spPr>
          <a:xfrm>
            <a:off x="4978972" y="459357"/>
            <a:ext cx="223405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Our Team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E31486-9BE5-6F65-34DE-B056BBE9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8EB08AF0-D474-0A51-C325-A6405D15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16" y="2008726"/>
            <a:ext cx="2541403" cy="2540415"/>
          </a:xfrm>
          <a:prstGeom prst="rect">
            <a:avLst/>
          </a:prstGeom>
        </p:spPr>
      </p:pic>
      <p:pic>
        <p:nvPicPr>
          <p:cNvPr id="38" name="Picture 3">
            <a:extLst>
              <a:ext uri="{FF2B5EF4-FFF2-40B4-BE49-F238E27FC236}">
                <a16:creationId xmlns:a16="http://schemas.microsoft.com/office/drawing/2014/main" id="{7DED2FAC-02E6-E5E0-2069-A31ADEC22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354" y="2008726"/>
            <a:ext cx="2541403" cy="2540415"/>
          </a:xfrm>
          <a:prstGeom prst="rect">
            <a:avLst/>
          </a:prstGeom>
        </p:spPr>
      </p:pic>
      <p:pic>
        <p:nvPicPr>
          <p:cNvPr id="39" name="Picture 4">
            <a:extLst>
              <a:ext uri="{FF2B5EF4-FFF2-40B4-BE49-F238E27FC236}">
                <a16:creationId xmlns:a16="http://schemas.microsoft.com/office/drawing/2014/main" id="{1E6FCEF3-9428-2778-E8C0-79109FC5D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277" y="2008726"/>
            <a:ext cx="2541403" cy="2540415"/>
          </a:xfrm>
          <a:prstGeom prst="rect">
            <a:avLst/>
          </a:prstGeom>
        </p:spPr>
      </p:pic>
      <p:pic>
        <p:nvPicPr>
          <p:cNvPr id="40" name="Picture 5">
            <a:extLst>
              <a:ext uri="{FF2B5EF4-FFF2-40B4-BE49-F238E27FC236}">
                <a16:creationId xmlns:a16="http://schemas.microsoft.com/office/drawing/2014/main" id="{078C4272-BA65-303D-B7E7-72239041F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808" y="2008726"/>
            <a:ext cx="2541403" cy="2540415"/>
          </a:xfrm>
          <a:prstGeom prst="rect">
            <a:avLst/>
          </a:prstGeom>
        </p:spPr>
      </p:pic>
      <p:sp>
        <p:nvSpPr>
          <p:cNvPr id="41" name="TextBox 6">
            <a:extLst>
              <a:ext uri="{FF2B5EF4-FFF2-40B4-BE49-F238E27FC236}">
                <a16:creationId xmlns:a16="http://schemas.microsoft.com/office/drawing/2014/main" id="{3854D1AB-F3A4-79A0-F29B-9A6621545550}"/>
              </a:ext>
            </a:extLst>
          </p:cNvPr>
          <p:cNvSpPr txBox="1"/>
          <p:nvPr/>
        </p:nvSpPr>
        <p:spPr>
          <a:xfrm>
            <a:off x="723210" y="4348645"/>
            <a:ext cx="2396620" cy="39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490"/>
              </a:lnSpc>
            </a:pPr>
            <a:r>
              <a:rPr lang="en-US" sz="1866" spc="-3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Ram Kedem</a:t>
            </a: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C9B890EA-4E5F-1024-E269-0025FDD7EA85}"/>
              </a:ext>
            </a:extLst>
          </p:cNvPr>
          <p:cNvSpPr txBox="1"/>
          <p:nvPr/>
        </p:nvSpPr>
        <p:spPr>
          <a:xfrm>
            <a:off x="3626137" y="4348645"/>
            <a:ext cx="2396620" cy="39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 rtl="1">
              <a:lnSpc>
                <a:spcPts val="3490"/>
              </a:lnSpc>
              <a:spcBef>
                <a:spcPct val="0"/>
              </a:spcBef>
            </a:pPr>
            <a:r>
              <a:rPr lang="en-US" sz="1866" spc="-3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Itai Mor</a:t>
            </a: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ED8F81FF-2CBF-DDAD-84F3-409737BFC467}"/>
              </a:ext>
            </a:extLst>
          </p:cNvPr>
          <p:cNvSpPr txBox="1"/>
          <p:nvPr/>
        </p:nvSpPr>
        <p:spPr>
          <a:xfrm>
            <a:off x="6428668" y="4348645"/>
            <a:ext cx="2396620" cy="39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 rtl="1">
              <a:lnSpc>
                <a:spcPts val="3490"/>
              </a:lnSpc>
              <a:spcBef>
                <a:spcPct val="0"/>
              </a:spcBef>
            </a:pPr>
            <a:r>
              <a:rPr lang="en-US" sz="1866" spc="-3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Yael Sagi</a:t>
            </a: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A435FF5A-AB66-631A-FE11-5DDA950C6D3E}"/>
              </a:ext>
            </a:extLst>
          </p:cNvPr>
          <p:cNvSpPr txBox="1"/>
          <p:nvPr/>
        </p:nvSpPr>
        <p:spPr>
          <a:xfrm>
            <a:off x="9231688" y="4348602"/>
            <a:ext cx="2396620" cy="39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ctr">
              <a:lnSpc>
                <a:spcPts val="3490"/>
              </a:lnSpc>
              <a:spcBef>
                <a:spcPct val="0"/>
              </a:spcBef>
            </a:pPr>
            <a:r>
              <a:rPr lang="en-US" sz="1866" spc="-37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Yehonatan</a:t>
            </a:r>
          </a:p>
        </p:txBody>
      </p:sp>
    </p:spTree>
    <p:extLst>
      <p:ext uri="{BB962C8B-B14F-4D97-AF65-F5344CB8AC3E}">
        <p14:creationId xmlns:p14="http://schemas.microsoft.com/office/powerpoint/2010/main" val="133966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C7C71-CBD9-F00F-FE28-6AF22CBE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BBC02D-529C-2E93-C2B6-D23CB38B6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04201E-D4E3-FEFD-3A98-6AD86144E372}"/>
              </a:ext>
            </a:extLst>
          </p:cNvPr>
          <p:cNvSpPr txBox="1"/>
          <p:nvPr/>
        </p:nvSpPr>
        <p:spPr>
          <a:xfrm>
            <a:off x="2280410" y="463212"/>
            <a:ext cx="7650077" cy="63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rPr dirty="0"/>
              <a:t>Product Roadmap &amp; Diet Support Evolution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94A3B8"/>
                </a:solidFill>
                <a:latin typeface="Segoe UI"/>
              </a:defRPr>
            </a:pPr>
            <a:r>
              <a:rPr dirty="0"/>
              <a:t>Phase-by-phase scaling from recommendation algorithms to deep clinical diet personalization.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9001ADC4-D53A-F55A-98BD-8C496DCC631A}"/>
              </a:ext>
            </a:extLst>
          </p:cNvPr>
          <p:cNvSpPr/>
          <p:nvPr/>
        </p:nvSpPr>
        <p:spPr>
          <a:xfrm>
            <a:off x="719633" y="1645920"/>
            <a:ext cx="3328416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94C01B-8B7C-B4AE-2AF0-0CC6258E2135}"/>
              </a:ext>
            </a:extLst>
          </p:cNvPr>
          <p:cNvSpPr txBox="1"/>
          <p:nvPr/>
        </p:nvSpPr>
        <p:spPr>
          <a:xfrm>
            <a:off x="948233" y="1874520"/>
            <a:ext cx="2871216" cy="3549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100" b="1" i="0">
                <a:solidFill>
                  <a:srgbClr val="06B6D4"/>
                </a:solidFill>
                <a:latin typeface="Segoe UI"/>
              </a:defRPr>
            </a:pPr>
            <a:r>
              <a:rPr sz="1200" dirty="0"/>
              <a:t>PHASE 1: CURRENT FOCUS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Recipe Recommendation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rPr sz="1200" dirty="0"/>
              <a:t>Engage users with high-quality recipes.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Personal flavor profile builder &amp; taste onboarding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User Cookbooks for saving &amp; organizing recipes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Step-by-step interactive cooking mode with timer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Rating &amp; recipe interaction history telemetry</a:t>
            </a:r>
          </a:p>
        </p:txBody>
      </p:sp>
      <p:sp>
        <p:nvSpPr>
          <p:cNvPr id="20" name="Right Arrow 4">
            <a:extLst>
              <a:ext uri="{FF2B5EF4-FFF2-40B4-BE49-F238E27FC236}">
                <a16:creationId xmlns:a16="http://schemas.microsoft.com/office/drawing/2014/main" id="{B1532F48-BE2A-8C6F-F260-C5460FBA43C7}"/>
              </a:ext>
            </a:extLst>
          </p:cNvPr>
          <p:cNvSpPr/>
          <p:nvPr/>
        </p:nvSpPr>
        <p:spPr>
          <a:xfrm>
            <a:off x="4102913" y="3657600"/>
            <a:ext cx="256032" cy="164592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04640344-E749-1E5A-FEE7-D1073F1CE368}"/>
              </a:ext>
            </a:extLst>
          </p:cNvPr>
          <p:cNvSpPr/>
          <p:nvPr/>
        </p:nvSpPr>
        <p:spPr>
          <a:xfrm>
            <a:off x="4413809" y="1645920"/>
            <a:ext cx="3328416" cy="42976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48F62254-07C3-239C-3FD8-787E113B872D}"/>
              </a:ext>
            </a:extLst>
          </p:cNvPr>
          <p:cNvSpPr/>
          <p:nvPr/>
        </p:nvSpPr>
        <p:spPr>
          <a:xfrm>
            <a:off x="4642409" y="1463040"/>
            <a:ext cx="1463040" cy="320040"/>
          </a:xfrm>
          <a:prstGeom prst="roundRect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NEXT MILESTONE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C3BAAD-9054-91C1-CD7B-5CC0DDF29C82}"/>
              </a:ext>
            </a:extLst>
          </p:cNvPr>
          <p:cNvSpPr txBox="1"/>
          <p:nvPr/>
        </p:nvSpPr>
        <p:spPr>
          <a:xfrm>
            <a:off x="4642409" y="1874520"/>
            <a:ext cx="2871216" cy="37343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100" b="1" i="0">
                <a:solidFill>
                  <a:srgbClr val="F43F5E"/>
                </a:solidFill>
                <a:latin typeface="Segoe UI"/>
              </a:defRPr>
            </a:pPr>
            <a:r>
              <a:rPr sz="1200" dirty="0"/>
              <a:t>PHASE 2: NEXT STEP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Specialized IBS Support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rPr sz="1200" dirty="0"/>
              <a:t>Address direct gut health &amp; symptom logging.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Low-FODMAP ingredient filtering &amp; alternatives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Daily food &amp; gut symptom logger with severity scale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Smart trigger food identification algorithms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Clinically aligned gastrointestinal health insights</a:t>
            </a:r>
          </a:p>
        </p:txBody>
      </p:sp>
      <p:sp>
        <p:nvSpPr>
          <p:cNvPr id="24" name="Right Arrow 8">
            <a:extLst>
              <a:ext uri="{FF2B5EF4-FFF2-40B4-BE49-F238E27FC236}">
                <a16:creationId xmlns:a16="http://schemas.microsoft.com/office/drawing/2014/main" id="{4A5E60CF-DC3D-495B-B122-8DDDBFC38E2E}"/>
              </a:ext>
            </a:extLst>
          </p:cNvPr>
          <p:cNvSpPr/>
          <p:nvPr/>
        </p:nvSpPr>
        <p:spPr>
          <a:xfrm>
            <a:off x="7797089" y="3657600"/>
            <a:ext cx="256032" cy="164592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2F87CEBD-780C-8B8D-7F03-98AC391502E6}"/>
              </a:ext>
            </a:extLst>
          </p:cNvPr>
          <p:cNvSpPr/>
          <p:nvPr/>
        </p:nvSpPr>
        <p:spPr>
          <a:xfrm>
            <a:off x="8107985" y="1645920"/>
            <a:ext cx="3328416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6B108D-983E-3E15-A3D9-0B614C5611F3}"/>
              </a:ext>
            </a:extLst>
          </p:cNvPr>
          <p:cNvSpPr txBox="1"/>
          <p:nvPr/>
        </p:nvSpPr>
        <p:spPr>
          <a:xfrm>
            <a:off x="8336585" y="1874520"/>
            <a:ext cx="2871216" cy="3549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100" b="1" i="0">
                <a:solidFill>
                  <a:srgbClr val="10B981"/>
                </a:solidFill>
                <a:latin typeface="Segoe UI"/>
              </a:defRPr>
            </a:pPr>
            <a:r>
              <a:rPr sz="1200" dirty="0"/>
              <a:t>PHASE 3: FUTURE VISION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Universal Diet Platform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1100" b="0" i="1">
                <a:solidFill>
                  <a:srgbClr val="94A3B8"/>
                </a:solidFill>
                <a:latin typeface="Segoe UI"/>
              </a:defRPr>
            </a:pPr>
            <a:r>
              <a:rPr sz="1200" dirty="0"/>
              <a:t>Scale to support any dietary condition.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Advanced medical profiles (Diabetes, Celiac, Heart)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Cross-diet overlapping filters (e.g. Low-FODMAP + Vegan)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Family profile support with overlapping restrictions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50" b="0" i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• Smart allergen-replacement shopping lists</a:t>
            </a:r>
          </a:p>
        </p:txBody>
      </p:sp>
    </p:spTree>
    <p:extLst>
      <p:ext uri="{BB962C8B-B14F-4D97-AF65-F5344CB8AC3E}">
        <p14:creationId xmlns:p14="http://schemas.microsoft.com/office/powerpoint/2010/main" val="156341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1E615-FC1E-5D0C-C6C9-0FF3E16F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F5AA78-6672-3569-D29D-9334C9A90639}"/>
              </a:ext>
            </a:extLst>
          </p:cNvPr>
          <p:cNvSpPr txBox="1"/>
          <p:nvPr/>
        </p:nvSpPr>
        <p:spPr>
          <a:xfrm>
            <a:off x="5108513" y="380699"/>
            <a:ext cx="197497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Scan Me!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EC4BC5-D6A5-1976-832A-6C1A9D7D5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16A9A1-DC6F-4253-EC06-434EE1DCFB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852"/>
          <a:stretch>
            <a:fillRect/>
          </a:stretch>
        </p:blipFill>
        <p:spPr>
          <a:xfrm>
            <a:off x="3253996" y="1087120"/>
            <a:ext cx="5684008" cy="577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46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14621-F7C6-67E4-E85E-EC030148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805B7199-380C-F99B-3E65-6BC03A6DA9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678426" y="-270165"/>
            <a:ext cx="13563600" cy="73983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77AFB5-1DE8-7136-E21F-2E90F6DD845C}"/>
              </a:ext>
            </a:extLst>
          </p:cNvPr>
          <p:cNvSpPr txBox="1"/>
          <p:nvPr/>
        </p:nvSpPr>
        <p:spPr>
          <a:xfrm>
            <a:off x="700548" y="2268849"/>
            <a:ext cx="10790903" cy="21236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sz="13800" noProof="0" dirty="0" err="1"/>
              <a:t>Tamarai.Tech</a:t>
            </a:r>
            <a:endParaRPr lang="en-US" sz="13800" noProof="0" dirty="0"/>
          </a:p>
        </p:txBody>
      </p:sp>
    </p:spTree>
    <p:extLst>
      <p:ext uri="{BB962C8B-B14F-4D97-AF65-F5344CB8AC3E}">
        <p14:creationId xmlns:p14="http://schemas.microsoft.com/office/powerpoint/2010/main" val="74554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9383" y="545961"/>
            <a:ext cx="813323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The Challenge Personalized Nutrition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B05E5A12-ED6A-3930-687A-E261F6E40F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08377"/>
              </p:ext>
            </p:extLst>
          </p:nvPr>
        </p:nvGraphicFramePr>
        <p:xfrm>
          <a:off x="353961" y="1130710"/>
          <a:ext cx="11269079" cy="5341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56A23F3-839A-4B5D-919A-5243C0E834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9170" y="419082"/>
            <a:ext cx="5501468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sz="3600" noProof="0" dirty="0"/>
              <a:t>Key Platform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2834640" cy="3411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A3E635"/>
                </a:solidFill>
                <a:latin typeface="Segoe UI"/>
              </a:rPr>
              <a:t>Personalized Cooking
</a:t>
            </a:r>
          </a:p>
          <a:p>
            <a:pPr>
              <a:spcAft>
                <a:spcPts val="1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Curated Recipe Engine</a:t>
            </a:r>
          </a:p>
          <a:p>
            <a:r>
              <a:rPr lang="en-US" noProof="0" dirty="0">
                <a:solidFill>
                  <a:srgbClr val="94A3B8"/>
                </a:solidFill>
                <a:latin typeface="Segoe UI"/>
              </a:rPr>
              <a:t>Analyzes raw ingredients and nutrition datasets to recommend tailored meals. Respects strict allergens, specific FODMAP exclusion levels, and personal health goals without compromising flavor.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9704" y="1645920"/>
            <a:ext cx="320040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672584" y="1920240"/>
            <a:ext cx="2834640" cy="3411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A3E635"/>
                </a:solidFill>
                <a:latin typeface="Segoe UI"/>
              </a:rPr>
              <a:t>Chat with Tamar
</a:t>
            </a:r>
          </a:p>
          <a:p>
            <a:pPr>
              <a:spcAft>
                <a:spcPts val="1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AI Health Assistant</a:t>
            </a:r>
          </a:p>
          <a:p>
            <a:r>
              <a:rPr lang="en-US" noProof="0" dirty="0">
                <a:solidFill>
                  <a:srgbClr val="94A3B8"/>
                </a:solidFill>
                <a:latin typeface="Segoe UI"/>
              </a:rPr>
              <a:t>Powered by Google Gemini. Provides real-time answers about ingredient safety, suggests IBS-friendly substitutions, translates dietary restrictions on the fly, and guides meal preparation.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4152" y="1645920"/>
            <a:ext cx="3200400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57032" y="1920240"/>
            <a:ext cx="2834640" cy="3411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A3E635"/>
                </a:solidFill>
                <a:latin typeface="Segoe UI"/>
              </a:rPr>
              <a:t>Insights &amp; Analytics
</a:t>
            </a:r>
          </a:p>
          <a:p>
            <a:pPr>
              <a:spcAft>
                <a:spcPts val="1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Symptom Tracker</a:t>
            </a:r>
          </a:p>
          <a:p>
            <a:r>
              <a:rPr lang="en-US" noProof="0" dirty="0">
                <a:solidFill>
                  <a:srgbClr val="94A3B8"/>
                </a:solidFill>
                <a:latin typeface="Segoe UI"/>
              </a:rPr>
              <a:t>Correlates logged user interactions (likes, saves, completions) and symptom flares to identify hidden dietary triggers. Translates complex biological trends into clean, actionable dashboards.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F3F4A2-5B14-4266-58EC-7B863DB93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9996" y="429562"/>
            <a:ext cx="3511701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Data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15" y="1131894"/>
            <a:ext cx="1086476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rPr lang="en-US" sz="2000" noProof="0" dirty="0"/>
              <a:t>Merging large-scale recipes with real-time user activity logs to drive highly tailored suggestions.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94219"/>
              </p:ext>
            </p:extLst>
          </p:nvPr>
        </p:nvGraphicFramePr>
        <p:xfrm>
          <a:off x="914400" y="1828800"/>
          <a:ext cx="10362895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A3E635"/>
                          </a:solidFill>
                          <a:latin typeface="Segoe UI"/>
                        </a:defRPr>
                      </a:pPr>
                      <a:r>
                        <a:rPr lang="en-US" sz="2400" noProof="0" dirty="0"/>
                        <a:t>Data Source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A3E635"/>
                          </a:solidFill>
                          <a:latin typeface="Segoe UI"/>
                        </a:defRPr>
                      </a:pPr>
                      <a:r>
                        <a:rPr lang="en-US" sz="2400" noProof="0" dirty="0"/>
                        <a:t>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A3E635"/>
                          </a:solidFill>
                          <a:latin typeface="Segoe UI"/>
                        </a:defRPr>
                      </a:pPr>
                      <a:r>
                        <a:rPr lang="en-US" sz="2400" noProof="0" dirty="0"/>
                        <a:t>Key Attributes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A3E635"/>
                          </a:solidFill>
                          <a:latin typeface="Segoe UI"/>
                        </a:defRPr>
                      </a:pPr>
                      <a:r>
                        <a:rPr lang="en-US" sz="2400" noProof="0" dirty="0"/>
                        <a:t>Volume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Food.com Dataset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Recipe Catalog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Ingredients, instructions, preparation times, and nutritional arrays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100,000+ Recipes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Food.com Dataset</a:t>
                      </a:r>
                    </a:p>
                  </a:txBody>
                  <a:tcPr anchor="ctr"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Feedback</a:t>
                      </a:r>
                    </a:p>
                  </a:txBody>
                  <a:tcPr anchor="ctr"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Rating</a:t>
                      </a:r>
                    </a:p>
                  </a:txBody>
                  <a:tcPr anchor="ctr"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980,000+ Interactions</a:t>
                      </a:r>
                    </a:p>
                  </a:txBody>
                  <a:tcPr anchor="ctr">
                    <a:solidFill>
                      <a:srgbClr val="0F1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Monash University 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Research result 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FODMAP filters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lang="en-US" sz="2000" noProof="0" dirty="0"/>
                        <a:t>~100</a:t>
                      </a:r>
                    </a:p>
                  </a:txBody>
                  <a:tcPr anchor="ctr">
                    <a:solidFill>
                      <a:srgbClr val="15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65011A9-72C6-B250-C78E-71570342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647" y="545961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Data Preprocessing &amp; Transformation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10362895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Segoe UI"/>
              </a:defRPr>
            </a:pPr>
            <a:r>
              <a:rPr lang="en-US" noProof="0" dirty="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874520"/>
            <a:ext cx="8961120" cy="851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F8FAFC"/>
                </a:solidFill>
                <a:latin typeface="Segoe UI"/>
              </a:rPr>
              <a:t>Recipe Feature Engineering &amp; Normalization</a:t>
            </a:r>
          </a:p>
          <a:p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Extracts preparation times, total steps, and counts ingredients. Parses the raw stringified nutrition arrays into individual macros (calories, protein, carbohydrates) to calculate macro-nutrient ratios.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10362895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Segoe UI"/>
              </a:defRPr>
            </a:pPr>
            <a:r>
              <a:rPr lang="en-US" noProof="0" dirty="0"/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246120"/>
            <a:ext cx="8961120" cy="851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F8FAFC"/>
                </a:solidFill>
                <a:latin typeface="Segoe UI"/>
              </a:rPr>
              <a:t>Implicit-to-Explicit Rating Mapping</a:t>
            </a:r>
          </a:p>
          <a:p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Converts qualitative interaction logs into quantitative rating signals. Maps interaction types to weights (Viewed: 1.5, Started: 3.5, Liked: 4.5, Saved: 5.0, Completed: 5.0) to model user preferences.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10362895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3E635"/>
                </a:solidFill>
                <a:latin typeface="Segoe UI"/>
              </a:defRPr>
            </a:pPr>
            <a:r>
              <a:rPr lang="en-US" noProof="0" dirty="0"/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617720"/>
            <a:ext cx="8961120" cy="851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b="1" noProof="0" dirty="0">
                <a:solidFill>
                  <a:srgbClr val="F8FAFC"/>
                </a:solidFill>
                <a:latin typeface="Segoe UI"/>
              </a:rPr>
              <a:t>Strict Dietary Constraint Filtering</a:t>
            </a:r>
          </a:p>
          <a:p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Acts as a hard pre-filtering layer. Before running recommendation models, the database is queried to prune recipes containing user-specific absolute triggers (e.g. gluten, lactose, high-FODMAPs).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423B99-52C0-6983-C7DC-F8C87F43C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F55EAD-EAC2-B7F9-454A-4E35769CC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742" y="430161"/>
            <a:ext cx="8996516" cy="59976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008EB6-BBA1-EBFF-09C1-9C740CD9F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12DDA412-0699-461F-D795-CF0460A0D74A}"/>
              </a:ext>
            </a:extLst>
          </p:cNvPr>
          <p:cNvSpPr/>
          <p:nvPr/>
        </p:nvSpPr>
        <p:spPr>
          <a:xfrm>
            <a:off x="383458" y="1645920"/>
            <a:ext cx="5471750" cy="490236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3613355" y="474418"/>
            <a:ext cx="496529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Algorithmic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333" y="1828800"/>
            <a:ext cx="4572000" cy="3647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400" b="1" noProof="0" dirty="0">
                <a:solidFill>
                  <a:srgbClr val="A3E635"/>
                </a:solidFill>
                <a:latin typeface="Segoe UI"/>
              </a:rPr>
              <a:t>Content-Based Active Learning</a:t>
            </a:r>
          </a:p>
          <a:p>
            <a:pPr>
              <a:spcAft>
                <a:spcPts val="1400"/>
              </a:spcAft>
            </a:pPr>
            <a:r>
              <a:rPr lang="en-US" b="1" noProof="0" dirty="0">
                <a:solidFill>
                  <a:srgbClr val="F8FAFC"/>
                </a:solidFill>
                <a:latin typeface="Segoe UI"/>
              </a:rPr>
              <a:t>Targeting the Cold-Start Problem</a:t>
            </a: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Feature Vectors: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Repositions recipe metadata (cooking speed, complexity, ingredients, macro ratios) as latent item dimensions.</a:t>
            </a: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K-Means Clustering: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Partitions the recipe search space into K=5 distinct culinary profiles.</a:t>
            </a: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Centroid Medoids: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Mathematically isolates representative recipes per cluster, constrained by global popularity and low variance.</a:t>
            </a: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Cosine Similarity: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Scores remaining items relative to the user's vector: (A • B) / (||A|| * ||B||).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645920"/>
            <a:ext cx="5471750" cy="490236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786667" y="1828800"/>
            <a:ext cx="4572000" cy="37856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400" b="1" noProof="0" dirty="0">
                <a:solidFill>
                  <a:srgbClr val="A3E635"/>
                </a:solidFill>
                <a:latin typeface="Segoe UI"/>
              </a:rPr>
              <a:t>Collaborative Filtering</a:t>
            </a:r>
          </a:p>
          <a:p>
            <a:pPr>
              <a:spcAft>
                <a:spcPts val="800"/>
              </a:spcAft>
            </a:pPr>
            <a:endParaRPr lang="en-US" sz="1600" b="1" noProof="0" dirty="0">
              <a:solidFill>
                <a:srgbClr val="F8FAFC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SVD Matrix Factorization: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Trains an offline Surprise SVD model combining active user ratings and Food.com history.</a:t>
            </a: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Neighborhood Benchmarks: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Implements baseline User-Based and Item-Based CF algorithms for prediction validation.</a:t>
            </a: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Catalog Padding: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Normalizes rating vectors with catalog placeholders to secure full recipe coverage.</a:t>
            </a:r>
          </a:p>
          <a:p>
            <a:pPr>
              <a:spcAft>
                <a:spcPts val="800"/>
              </a:spcAft>
            </a:pPr>
            <a:r>
              <a:rPr lang="en-US" sz="1600" b="1" noProof="0" dirty="0">
                <a:solidFill>
                  <a:srgbClr val="F8FAFC"/>
                </a:solidFill>
                <a:latin typeface="Segoe UI"/>
              </a:rPr>
              <a:t>Score Normalization:</a:t>
            </a:r>
            <a:r>
              <a:rPr lang="en-US" sz="1600" noProof="0" dirty="0">
                <a:solidFill>
                  <a:srgbClr val="94A3B8"/>
                </a:solidFill>
                <a:latin typeface="Segoe UI"/>
              </a:rPr>
              <a:t> Projects raw prediction numbers into a display-friendly 78% - 98% confidence range for user trust.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F524D-BEEB-9274-B2F0-756673283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rPr lang="en-US" noProof="0" dirty="0"/>
              <a:t>Future Product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057832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400"/>
              </a:spcAft>
            </a:pPr>
            <a:endParaRPr lang="en-US" sz="1600" dirty="0">
              <a:solidFill>
                <a:srgbClr val="94A3B8"/>
              </a:solidFill>
              <a:latin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4390A8-ECE5-08D9-4978-38844CF7E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B3762F1F-B323-8B22-CC48-9D93E1B95636}"/>
              </a:ext>
            </a:extLst>
          </p:cNvPr>
          <p:cNvSpPr/>
          <p:nvPr/>
        </p:nvSpPr>
        <p:spPr>
          <a:xfrm>
            <a:off x="4488426" y="1645920"/>
            <a:ext cx="3057832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400"/>
              </a:spcAft>
            </a:pPr>
            <a:endParaRPr lang="en-US" sz="1600" dirty="0">
              <a:solidFill>
                <a:srgbClr val="94A3B8"/>
              </a:solidFill>
              <a:latin typeface="Segoe UI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AE0D6005-44ED-8E1E-67BC-8E9ECA1F8526}"/>
              </a:ext>
            </a:extLst>
          </p:cNvPr>
          <p:cNvSpPr/>
          <p:nvPr/>
        </p:nvSpPr>
        <p:spPr>
          <a:xfrm>
            <a:off x="8062452" y="1645920"/>
            <a:ext cx="3057832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400"/>
              </a:spcAft>
            </a:pPr>
            <a:endParaRPr lang="en-US" sz="2000" b="1" dirty="0">
              <a:solidFill>
                <a:srgbClr val="A3E635"/>
              </a:solidFill>
              <a:latin typeface="Segoe UI"/>
            </a:endParaRPr>
          </a:p>
          <a:p>
            <a:pPr>
              <a:spcAft>
                <a:spcPts val="1400"/>
              </a:spcAft>
            </a:pPr>
            <a:endParaRPr lang="en-US" sz="1600" dirty="0">
              <a:solidFill>
                <a:srgbClr val="94A3B8"/>
              </a:solidFill>
              <a:latin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619F2B-81A1-E986-CFA1-47C9A69D4381}"/>
              </a:ext>
            </a:extLst>
          </p:cNvPr>
          <p:cNvSpPr txBox="1"/>
          <p:nvPr/>
        </p:nvSpPr>
        <p:spPr>
          <a:xfrm>
            <a:off x="4593656" y="1998222"/>
            <a:ext cx="273312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</a:pPr>
            <a:r>
              <a:rPr lang="en-US" sz="2000" b="1" dirty="0">
                <a:solidFill>
                  <a:srgbClr val="A3E635"/>
                </a:solidFill>
                <a:latin typeface="Segoe UI"/>
              </a:rPr>
              <a:t>Recipes</a:t>
            </a:r>
            <a:r>
              <a:rPr lang="en-US" sz="20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n-US" sz="2000" b="1" dirty="0">
                <a:solidFill>
                  <a:srgbClr val="A3E635"/>
                </a:solidFill>
                <a:latin typeface="Segoe UI"/>
              </a:rPr>
              <a:t>Gallery</a:t>
            </a:r>
            <a:br>
              <a:rPr lang="en-US" sz="2000" b="1" dirty="0">
                <a:solidFill>
                  <a:srgbClr val="A3E635"/>
                </a:solidFill>
                <a:latin typeface="Segoe UI"/>
              </a:rPr>
            </a:br>
            <a:br>
              <a:rPr lang="en-US" sz="2000" b="1" dirty="0">
                <a:solidFill>
                  <a:srgbClr val="A3E635"/>
                </a:solidFill>
                <a:latin typeface="Segoe UI"/>
              </a:rPr>
            </a:br>
            <a:r>
              <a:rPr lang="en-GB" dirty="0">
                <a:solidFill>
                  <a:srgbClr val="94A3B8"/>
                </a:solidFill>
                <a:latin typeface="Segoe UI"/>
              </a:rPr>
              <a:t>Expand the dynamic, card-based interface to support growth from hundreds of curated photos to a full dataset of all our 100,000 recipes.</a:t>
            </a:r>
            <a:endParaRPr lang="en-US" sz="2000" b="1" dirty="0">
              <a:solidFill>
                <a:srgbClr val="A3E635"/>
              </a:solidFill>
              <a:latin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74E95C-E300-9C84-1556-05A11C6D71B1}"/>
              </a:ext>
            </a:extLst>
          </p:cNvPr>
          <p:cNvSpPr txBox="1"/>
          <p:nvPr/>
        </p:nvSpPr>
        <p:spPr>
          <a:xfrm>
            <a:off x="971526" y="1998222"/>
            <a:ext cx="2943580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rPr lang="en-US" sz="2000" b="1" dirty="0">
                <a:solidFill>
                  <a:srgbClr val="A3E635"/>
                </a:solidFill>
                <a:latin typeface="Segoe UI"/>
              </a:rPr>
              <a:t>Engine improvements</a:t>
            </a:r>
          </a:p>
          <a:p>
            <a:br>
              <a:rPr lang="en-US" dirty="0">
                <a:solidFill>
                  <a:srgbClr val="94A3B8"/>
                </a:solidFill>
                <a:latin typeface="Segoe UI"/>
              </a:rPr>
            </a:br>
            <a:r>
              <a:rPr lang="en-US" dirty="0">
                <a:solidFill>
                  <a:srgbClr val="94A3B8"/>
                </a:solidFill>
                <a:latin typeface="Segoe UI"/>
              </a:rPr>
              <a:t>Add more user-based indicators to determine the rating. Implement machine learning classification to correlate self-reported symptom logs with consumed meals, flagging hidden patient-specific food triggers.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BBDBE1-96D8-7466-6DD6-8EAC5123E976}"/>
              </a:ext>
            </a:extLst>
          </p:cNvPr>
          <p:cNvSpPr txBox="1"/>
          <p:nvPr/>
        </p:nvSpPr>
        <p:spPr>
          <a:xfrm>
            <a:off x="8222217" y="2002071"/>
            <a:ext cx="273830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</a:pPr>
            <a:r>
              <a:rPr lang="en-US" sz="2000" b="1" dirty="0">
                <a:solidFill>
                  <a:srgbClr val="A3E635"/>
                </a:solidFill>
                <a:latin typeface="Segoe UI"/>
              </a:rPr>
              <a:t>RS-Chat</a:t>
            </a:r>
            <a:r>
              <a:rPr lang="en-US" sz="2000" b="1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n-US" sz="2000" b="1" dirty="0">
                <a:solidFill>
                  <a:srgbClr val="A3E635"/>
                </a:solidFill>
                <a:latin typeface="Segoe UI"/>
              </a:rPr>
              <a:t>embedding</a:t>
            </a:r>
            <a:br>
              <a:rPr lang="en-US" sz="2000" b="1" dirty="0">
                <a:solidFill>
                  <a:srgbClr val="A3E635"/>
                </a:solidFill>
                <a:latin typeface="Segoe UI"/>
              </a:rPr>
            </a:br>
            <a:br>
              <a:rPr lang="en-US" sz="2000" b="1" dirty="0">
                <a:solidFill>
                  <a:srgbClr val="A3E635"/>
                </a:solidFill>
                <a:latin typeface="Segoe UI"/>
              </a:rPr>
            </a:br>
            <a:r>
              <a:rPr lang="en-GB" dirty="0">
                <a:solidFill>
                  <a:srgbClr val="94A3B8"/>
                </a:solidFill>
                <a:latin typeface="Segoe UI"/>
              </a:rPr>
              <a:t>Integrate the collaborative filtering recommender engine into the AI health assistant, enabling real-time, context-aware meal suggestions directly within active chat conversations.</a:t>
            </a:r>
            <a:endParaRPr lang="en-US" b="1" dirty="0">
              <a:solidFill>
                <a:srgbClr val="A3E63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62895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4400" b="1" noProof="0" dirty="0">
                <a:solidFill>
                  <a:srgbClr val="A3E635"/>
                </a:solidFill>
                <a:latin typeface="Segoe UI"/>
              </a:rPr>
              <a:t>Enjoy food again!</a:t>
            </a:r>
            <a:endParaRPr lang="en-US" sz="4400" b="1" noProof="0" dirty="0">
              <a:solidFill>
                <a:srgbClr val="F8FAFC"/>
              </a:solidFill>
              <a:latin typeface="Segoe UI"/>
            </a:endParaRPr>
          </a:p>
          <a:p>
            <a:pPr algn="ctr">
              <a:spcBef>
                <a:spcPts val="3000"/>
              </a:spcBef>
            </a:pPr>
            <a:r>
              <a:rPr lang="en-US" sz="1600" b="1" noProof="0" dirty="0">
                <a:solidFill>
                  <a:srgbClr val="94A3B8"/>
                </a:solidFill>
                <a:latin typeface="Segoe UI"/>
              </a:rPr>
              <a:t>Tamar  |  IBS proof food recommender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8B92E-4635-AD81-2DE8-13651CF73E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678426" y="-270165"/>
            <a:ext cx="13563600" cy="73983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4C5CF-45A1-F5B0-79A9-EAE41807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07DB-6740-C096-6677-D55BCCB96149}"/>
              </a:ext>
            </a:extLst>
          </p:cNvPr>
          <p:cNvSpPr txBox="1"/>
          <p:nvPr/>
        </p:nvSpPr>
        <p:spPr>
          <a:xfrm>
            <a:off x="914552" y="1067424"/>
            <a:ext cx="10362895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4400" b="1" noProof="0" dirty="0">
                <a:solidFill>
                  <a:srgbClr val="A3E635"/>
                </a:solidFill>
                <a:latin typeface="Segoe UI"/>
              </a:rPr>
              <a:t>Enjoy food again!</a:t>
            </a:r>
            <a:endParaRPr lang="en-US" sz="4400" b="1" noProof="0" dirty="0">
              <a:solidFill>
                <a:srgbClr val="F8FAFC"/>
              </a:solidFill>
              <a:latin typeface="Segoe UI"/>
            </a:endParaRPr>
          </a:p>
          <a:p>
            <a:pPr algn="ctr">
              <a:spcBef>
                <a:spcPts val="3000"/>
              </a:spcBef>
            </a:pPr>
            <a:r>
              <a:rPr lang="en-US" sz="1600" b="1" noProof="0" dirty="0">
                <a:solidFill>
                  <a:srgbClr val="94A3B8"/>
                </a:solidFill>
                <a:latin typeface="Segoe UI"/>
              </a:rPr>
              <a:t>Tamar  |  IBS proof food recommender system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4AEE58-7F3C-FE2A-7A5D-FE513651A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5" y="-61562"/>
            <a:ext cx="1621624" cy="884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A4FE76-FF60-516E-6F2D-9EC588E1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355" y="2375474"/>
            <a:ext cx="4423287" cy="442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31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287</TotalTime>
  <Words>960</Words>
  <Application>Microsoft Office PowerPoint</Application>
  <PresentationFormat>Widescreen</PresentationFormat>
  <Paragraphs>108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Gotham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Itai Mor</cp:lastModifiedBy>
  <cp:revision>9</cp:revision>
  <dcterms:created xsi:type="dcterms:W3CDTF">2013-01-27T09:14:16Z</dcterms:created>
  <dcterms:modified xsi:type="dcterms:W3CDTF">2026-06-02T11:33:44Z</dcterms:modified>
  <cp:category/>
</cp:coreProperties>
</file>